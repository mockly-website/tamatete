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E3A5A"/>
          </a:solidFill>
          <a:ln/>
        </p:spPr>
      </p:sp>
      <p:sp>
        <p:nvSpPr>
          <p:cNvPr id="4" name="Shape 2"/>
          <p:cNvSpPr/>
          <p:nvPr/>
        </p:nvSpPr>
        <p:spPr>
          <a:xfrm>
            <a:off x="4724248" y="187452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5" name="Text 3"/>
          <p:cNvSpPr/>
          <p:nvPr/>
        </p:nvSpPr>
        <p:spPr>
          <a:xfrm>
            <a:off x="4724248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8A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DI PROGETTO DIGITALE</a:t>
            </a:r>
            <a:endParaRPr lang="en-US" sz="1050" dirty="0"/>
          </a:p>
        </p:txBody>
      </p:sp>
      <p:pic>
        <p:nvPicPr>
          <p:cNvPr id="6" name="Image 0" descr="/home/claude/site/img/logo-senza-sfo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2331720"/>
            <a:ext cx="4206240" cy="6289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nuovo sito web del ristorante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Ristorante Bistrot - Piazza Giovanni Corrias, Oristano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Presentato da </a:t>
            </a:r>
            <a:pPr algn="ctr" indent="0" marL="0">
              <a:buNone/>
            </a:pPr>
            <a:r>
              <a:rPr lang="en-US" sz="1200" b="1" dirty="0">
                <a:solidFill>
                  <a:srgbClr val="B8A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vetrina online che lavora per il ristorante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128016" cy="128016"/>
          </a:xfrm>
          <a:prstGeom prst="ellipse">
            <a:avLst/>
          </a:prstGeom>
          <a:solidFill>
            <a:srgbClr val="9C92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conoscere Ta Matete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a chi non passa per Piazza Corrias, con una presenza professionale e curata.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128016" cy="128016"/>
          </a:xfrm>
          <a:prstGeom prst="ellipse">
            <a:avLst/>
          </a:prstGeom>
          <a:solidFill>
            <a:srgbClr val="9C92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37560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più prenotazioni dirette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passare da terze piattaforme: form, telefono e WhatsApp in un click.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9C922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636008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Parlare la lingua dei turisti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sito è disponibile in italiano, inglese, francese e spagnolo.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868680"/>
            <a:ext cx="4160520" cy="5545973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pic>
        <p:nvPicPr>
          <p:cNvPr id="12" name="Image 0" descr="/home/claude/deck/icons/obiettivo_im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868680"/>
            <a:ext cx="4160520" cy="554597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60920" y="868680"/>
            <a:ext cx="4160520" cy="5545973"/>
          </a:xfrm>
          <a:prstGeom prst="roundRect">
            <a:avLst>
              <a:gd name="adj" fmla="val 1758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6524381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2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L'ingresso storico di Ta Matete, Piazza Giovanni Corrias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HOME PAGE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prima impressione all'altezza del locale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atmosfera e call-to-action immediate: prenotare un tavolo o scoprire il menu è a un clic di distanza.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75408" y="1965960"/>
            <a:ext cx="704088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93696" y="1984248"/>
            <a:ext cx="7004304" cy="310896"/>
          </a:xfrm>
          <a:prstGeom prst="rect">
            <a:avLst/>
          </a:prstGeom>
          <a:solidFill>
            <a:srgbClr val="F2EEE7"/>
          </a:solidFill>
          <a:ln/>
        </p:spPr>
      </p:sp>
      <p:sp>
        <p:nvSpPr>
          <p:cNvPr id="8" name="Shape 6"/>
          <p:cNvSpPr/>
          <p:nvPr/>
        </p:nvSpPr>
        <p:spPr>
          <a:xfrm>
            <a:off x="2721712" y="2098548"/>
            <a:ext cx="82296" cy="82296"/>
          </a:xfrm>
          <a:prstGeom prst="ellipse">
            <a:avLst/>
          </a:prstGeom>
          <a:solidFill>
            <a:srgbClr val="E3A3A3"/>
          </a:solidFill>
          <a:ln/>
        </p:spPr>
      </p:sp>
      <p:sp>
        <p:nvSpPr>
          <p:cNvPr id="9" name="Shape 7"/>
          <p:cNvSpPr/>
          <p:nvPr/>
        </p:nvSpPr>
        <p:spPr>
          <a:xfrm>
            <a:off x="2886304" y="2098548"/>
            <a:ext cx="82296" cy="82296"/>
          </a:xfrm>
          <a:prstGeom prst="ellipse">
            <a:avLst/>
          </a:prstGeom>
          <a:solidFill>
            <a:srgbClr val="E8D08A"/>
          </a:solidFill>
          <a:ln/>
        </p:spPr>
      </p:sp>
      <p:sp>
        <p:nvSpPr>
          <p:cNvPr id="10" name="Shape 8"/>
          <p:cNvSpPr/>
          <p:nvPr/>
        </p:nvSpPr>
        <p:spPr>
          <a:xfrm>
            <a:off x="3050896" y="2098548"/>
            <a:ext cx="82296" cy="82296"/>
          </a:xfrm>
          <a:prstGeom prst="ellipse">
            <a:avLst/>
          </a:prstGeom>
          <a:solidFill>
            <a:srgbClr val="A9C9A9"/>
          </a:solidFill>
          <a:ln/>
        </p:spPr>
      </p:sp>
      <p:sp>
        <p:nvSpPr>
          <p:cNvPr id="11" name="Shape 9"/>
          <p:cNvSpPr/>
          <p:nvPr/>
        </p:nvSpPr>
        <p:spPr>
          <a:xfrm>
            <a:off x="4907128" y="202996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tamatete.it</a:t>
            </a:r>
            <a:endParaRPr lang="en-US" sz="900" dirty="0"/>
          </a:p>
        </p:txBody>
      </p:sp>
      <p:pic>
        <p:nvPicPr>
          <p:cNvPr id="13" name="Image 0" descr="/home/claude/site/shots/crop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08" y="2313432"/>
            <a:ext cx="704088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SIAMO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storia del locale, raccontata bene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Posizione, filosofia in cucina e numeri che danno fiducia a chi visita il sito per la prima volta.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36667" y="1874520"/>
            <a:ext cx="5918361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955" y="1892808"/>
            <a:ext cx="5881785" cy="310896"/>
          </a:xfrm>
          <a:prstGeom prst="rect">
            <a:avLst/>
          </a:prstGeom>
          <a:solidFill>
            <a:srgbClr val="F2EEE7"/>
          </a:solidFill>
          <a:ln/>
        </p:spPr>
      </p:sp>
      <p:sp>
        <p:nvSpPr>
          <p:cNvPr id="8" name="Shape 6"/>
          <p:cNvSpPr/>
          <p:nvPr/>
        </p:nvSpPr>
        <p:spPr>
          <a:xfrm>
            <a:off x="3282971" y="2007108"/>
            <a:ext cx="82296" cy="82296"/>
          </a:xfrm>
          <a:prstGeom prst="ellipse">
            <a:avLst/>
          </a:prstGeom>
          <a:solidFill>
            <a:srgbClr val="E3A3A3"/>
          </a:solidFill>
          <a:ln/>
        </p:spPr>
      </p:sp>
      <p:sp>
        <p:nvSpPr>
          <p:cNvPr id="9" name="Shape 7"/>
          <p:cNvSpPr/>
          <p:nvPr/>
        </p:nvSpPr>
        <p:spPr>
          <a:xfrm>
            <a:off x="3447563" y="2007108"/>
            <a:ext cx="82296" cy="82296"/>
          </a:xfrm>
          <a:prstGeom prst="ellipse">
            <a:avLst/>
          </a:prstGeom>
          <a:solidFill>
            <a:srgbClr val="E8D08A"/>
          </a:solidFill>
          <a:ln/>
        </p:spPr>
      </p:sp>
      <p:sp>
        <p:nvSpPr>
          <p:cNvPr id="10" name="Shape 8"/>
          <p:cNvSpPr/>
          <p:nvPr/>
        </p:nvSpPr>
        <p:spPr>
          <a:xfrm>
            <a:off x="3612155" y="2007108"/>
            <a:ext cx="82296" cy="82296"/>
          </a:xfrm>
          <a:prstGeom prst="ellipse">
            <a:avLst/>
          </a:prstGeom>
          <a:solidFill>
            <a:srgbClr val="A9C9A9"/>
          </a:solidFill>
          <a:ln/>
        </p:spPr>
      </p:sp>
      <p:sp>
        <p:nvSpPr>
          <p:cNvPr id="11" name="Shape 9"/>
          <p:cNvSpPr/>
          <p:nvPr/>
        </p:nvSpPr>
        <p:spPr>
          <a:xfrm>
            <a:off x="4907128" y="193852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tamatete.it</a:t>
            </a:r>
            <a:endParaRPr lang="en-US" sz="900" dirty="0"/>
          </a:p>
        </p:txBody>
      </p:sp>
      <p:pic>
        <p:nvPicPr>
          <p:cNvPr id="13" name="Image 0" descr="/home/claude/site/shots/crop_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667" y="2221992"/>
            <a:ext cx="5918361" cy="40873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2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numeri (rating, recensioni, anno di apertura) sono segnaposto: li aggiorniamo con i dati reali prima della pubblicazione.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GALLERIA FOTOGRAFICA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piatti e l'atmosfera parlano da soli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scatti reali del ristorante in un carosello scorrevole, per dare appetito prima ancora di sedersi al tavolo.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99336" y="1965960"/>
            <a:ext cx="8193024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7624" y="1984248"/>
            <a:ext cx="8156448" cy="310896"/>
          </a:xfrm>
          <a:prstGeom prst="rect">
            <a:avLst/>
          </a:prstGeom>
          <a:solidFill>
            <a:srgbClr val="F2EEE7"/>
          </a:solidFill>
          <a:ln/>
        </p:spPr>
      </p:sp>
      <p:sp>
        <p:nvSpPr>
          <p:cNvPr id="8" name="Shape 6"/>
          <p:cNvSpPr/>
          <p:nvPr/>
        </p:nvSpPr>
        <p:spPr>
          <a:xfrm>
            <a:off x="2145640" y="2098548"/>
            <a:ext cx="82296" cy="82296"/>
          </a:xfrm>
          <a:prstGeom prst="ellipse">
            <a:avLst/>
          </a:prstGeom>
          <a:solidFill>
            <a:srgbClr val="E3A3A3"/>
          </a:solidFill>
          <a:ln/>
        </p:spPr>
      </p:sp>
      <p:sp>
        <p:nvSpPr>
          <p:cNvPr id="9" name="Shape 7"/>
          <p:cNvSpPr/>
          <p:nvPr/>
        </p:nvSpPr>
        <p:spPr>
          <a:xfrm>
            <a:off x="2310232" y="2098548"/>
            <a:ext cx="82296" cy="82296"/>
          </a:xfrm>
          <a:prstGeom prst="ellipse">
            <a:avLst/>
          </a:prstGeom>
          <a:solidFill>
            <a:srgbClr val="E8D08A"/>
          </a:solidFill>
          <a:ln/>
        </p:spPr>
      </p:sp>
      <p:sp>
        <p:nvSpPr>
          <p:cNvPr id="10" name="Shape 8"/>
          <p:cNvSpPr/>
          <p:nvPr/>
        </p:nvSpPr>
        <p:spPr>
          <a:xfrm>
            <a:off x="2474824" y="2098548"/>
            <a:ext cx="82296" cy="82296"/>
          </a:xfrm>
          <a:prstGeom prst="ellipse">
            <a:avLst/>
          </a:prstGeom>
          <a:solidFill>
            <a:srgbClr val="A9C9A9"/>
          </a:solidFill>
          <a:ln/>
        </p:spPr>
      </p:sp>
      <p:sp>
        <p:nvSpPr>
          <p:cNvPr id="11" name="Shape 9"/>
          <p:cNvSpPr/>
          <p:nvPr/>
        </p:nvSpPr>
        <p:spPr>
          <a:xfrm>
            <a:off x="4907128" y="202996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tamatete.it</a:t>
            </a:r>
            <a:endParaRPr lang="en-US" sz="900" dirty="0"/>
          </a:p>
        </p:txBody>
      </p:sp>
      <p:pic>
        <p:nvPicPr>
          <p:cNvPr id="13" name="Image 0" descr="/home/claude/site/shots/crop_gall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9336" y="2313432"/>
            <a:ext cx="8193024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menu digitale facile da aggiornare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a schede, prezzi sempre visibili e nota allergeni: niente PDF da scaricare, niente foto sgranate.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25953" y="1874520"/>
            <a:ext cx="6539789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44241" y="1892808"/>
            <a:ext cx="6503213" cy="310896"/>
          </a:xfrm>
          <a:prstGeom prst="rect">
            <a:avLst/>
          </a:prstGeom>
          <a:solidFill>
            <a:srgbClr val="F2EEE7"/>
          </a:solidFill>
          <a:ln/>
        </p:spPr>
      </p:sp>
      <p:sp>
        <p:nvSpPr>
          <p:cNvPr id="8" name="Shape 6"/>
          <p:cNvSpPr/>
          <p:nvPr/>
        </p:nvSpPr>
        <p:spPr>
          <a:xfrm>
            <a:off x="2972257" y="2007108"/>
            <a:ext cx="82296" cy="82296"/>
          </a:xfrm>
          <a:prstGeom prst="ellipse">
            <a:avLst/>
          </a:prstGeom>
          <a:solidFill>
            <a:srgbClr val="E3A3A3"/>
          </a:solidFill>
          <a:ln/>
        </p:spPr>
      </p:sp>
      <p:sp>
        <p:nvSpPr>
          <p:cNvPr id="9" name="Shape 7"/>
          <p:cNvSpPr/>
          <p:nvPr/>
        </p:nvSpPr>
        <p:spPr>
          <a:xfrm>
            <a:off x="3136849" y="2007108"/>
            <a:ext cx="82296" cy="82296"/>
          </a:xfrm>
          <a:prstGeom prst="ellipse">
            <a:avLst/>
          </a:prstGeom>
          <a:solidFill>
            <a:srgbClr val="E8D08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1441" y="2007108"/>
            <a:ext cx="82296" cy="82296"/>
          </a:xfrm>
          <a:prstGeom prst="ellipse">
            <a:avLst/>
          </a:prstGeom>
          <a:solidFill>
            <a:srgbClr val="A9C9A9"/>
          </a:solidFill>
          <a:ln/>
        </p:spPr>
      </p:sp>
      <p:sp>
        <p:nvSpPr>
          <p:cNvPr id="11" name="Shape 9"/>
          <p:cNvSpPr/>
          <p:nvPr/>
        </p:nvSpPr>
        <p:spPr>
          <a:xfrm>
            <a:off x="4907128" y="193852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tamatete.it/menu</a:t>
            </a:r>
            <a:endParaRPr lang="en-US" sz="900" dirty="0"/>
          </a:p>
        </p:txBody>
      </p:sp>
      <p:pic>
        <p:nvPicPr>
          <p:cNvPr id="13" name="Image 0" descr="/home/claude/site/shots/menu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953" y="2221992"/>
            <a:ext cx="6539789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Prenotare un tavolo non è mai stato così semplice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di richiesta, telefono e WhatsApp diretto, indirizzo e orari sempre a portata di mano.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25953" y="1874520"/>
            <a:ext cx="6539789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44241" y="1892808"/>
            <a:ext cx="6503213" cy="310896"/>
          </a:xfrm>
          <a:prstGeom prst="rect">
            <a:avLst/>
          </a:prstGeom>
          <a:solidFill>
            <a:srgbClr val="F2EEE7"/>
          </a:solidFill>
          <a:ln/>
        </p:spPr>
      </p:sp>
      <p:sp>
        <p:nvSpPr>
          <p:cNvPr id="8" name="Shape 6"/>
          <p:cNvSpPr/>
          <p:nvPr/>
        </p:nvSpPr>
        <p:spPr>
          <a:xfrm>
            <a:off x="2972257" y="2007108"/>
            <a:ext cx="82296" cy="82296"/>
          </a:xfrm>
          <a:prstGeom prst="ellipse">
            <a:avLst/>
          </a:prstGeom>
          <a:solidFill>
            <a:srgbClr val="E3A3A3"/>
          </a:solidFill>
          <a:ln/>
        </p:spPr>
      </p:sp>
      <p:sp>
        <p:nvSpPr>
          <p:cNvPr id="9" name="Shape 7"/>
          <p:cNvSpPr/>
          <p:nvPr/>
        </p:nvSpPr>
        <p:spPr>
          <a:xfrm>
            <a:off x="3136849" y="2007108"/>
            <a:ext cx="82296" cy="82296"/>
          </a:xfrm>
          <a:prstGeom prst="ellipse">
            <a:avLst/>
          </a:prstGeom>
          <a:solidFill>
            <a:srgbClr val="E8D08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1441" y="2007108"/>
            <a:ext cx="82296" cy="82296"/>
          </a:xfrm>
          <a:prstGeom prst="ellipse">
            <a:avLst/>
          </a:prstGeom>
          <a:solidFill>
            <a:srgbClr val="A9C9A9"/>
          </a:solidFill>
          <a:ln/>
        </p:spPr>
      </p:sp>
      <p:sp>
        <p:nvSpPr>
          <p:cNvPr id="11" name="Shape 9"/>
          <p:cNvSpPr/>
          <p:nvPr/>
        </p:nvSpPr>
        <p:spPr>
          <a:xfrm>
            <a:off x="4907128" y="193852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tamatete.it/contatti</a:t>
            </a:r>
            <a:endParaRPr lang="en-US" sz="900" dirty="0"/>
          </a:p>
        </p:txBody>
      </p:sp>
      <p:pic>
        <p:nvPicPr>
          <p:cNvPr id="13" name="Image 0" descr="/home/claude/site/shots/contatti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953" y="2221992"/>
            <a:ext cx="6539789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8A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 &amp; SMARTPHONE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Pensato per chi visita Oristano da fuori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maggior parte delle prenotazioni turistiche arriva da telefono. Il sito è progettato mobile-first ed è disponibile in 4 lingue.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9C92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697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1F3A5A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31546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2697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1F3A5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69748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1F3A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19" name="Image 0" descr="/home/claude/deck/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105656"/>
            <a:ext cx="164592" cy="1645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5568" y="39776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fluido su ogni schermo, dal telefono al desktop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581144"/>
            <a:ext cx="420624" cy="42062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22" name="Image 1" descr="/home/claude/deck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709160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458114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 rapido, anche con connessioni turistiche lente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503920" y="777240"/>
            <a:ext cx="2532888" cy="5247596"/>
          </a:xfrm>
          <a:prstGeom prst="roundRect">
            <a:avLst>
              <a:gd name="adj" fmla="val 7942"/>
            </a:avLst>
          </a:prstGeom>
          <a:solidFill>
            <a:srgbClr val="0E1E33"/>
          </a:solidFill>
          <a:ln w="25400">
            <a:solidFill>
              <a:srgbClr val="2B4863"/>
            </a:solidFill>
            <a:prstDash val="solid"/>
          </a:ln>
          <a:effectLst>
            <a:outerShdw sx="100000" sy="100000" kx="0" ky="0" algn="bl" rotWithShape="0" blurRad="228600" dist="76200" dir="5400000">
              <a:srgbClr val="152943">
                <a:alpha val="35000"/>
              </a:srgbClr>
            </a:outerShdw>
          </a:effectLst>
        </p:spPr>
      </p:sp>
      <p:pic>
        <p:nvPicPr>
          <p:cNvPr id="25" name="Image 2" descr="/home/claude/site/shots/mobile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877824"/>
            <a:ext cx="2331720" cy="5046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quello che serve, niente di superfluo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7" name="Image 0" descr="/home/claude/deck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9748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multilingua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081528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Italiano, inglese, francese, spagnolo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4314" y="1783080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0346" y="2039112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12" name="Image 1" descr="/home/claude/deck/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217627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0346" y="269748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responsive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00346" y="3081528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 su telefono, tablet e desktop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9989" y="1783080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6021" y="2039112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17" name="Image 2" descr="/home/claude/deck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21762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6021" y="269748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dirette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6021" y="3081528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telefono e WhatsApp integrati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41648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297680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22" name="Image 3" descr="/home/claude/deck/icons/imag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3484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9560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Galleria fotografica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04672" y="5340096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foto reali in un carosello dedicato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4314" y="4041648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00346" y="4297680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27" name="Image 4" descr="/home/claude/deck/icons/utensil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06" y="443484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00346" y="49560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interattivo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00346" y="5340096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Categorie, prezzi e allergeni sempre aggiornabili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9989" y="4041648"/>
            <a:ext cx="3503066" cy="1965960"/>
          </a:xfrm>
          <a:prstGeom prst="roundRect">
            <a:avLst>
              <a:gd name="adj" fmla="val 4186"/>
            </a:avLst>
          </a:prstGeom>
          <a:solidFill>
            <a:srgbClr val="F5F0EB"/>
          </a:solidFill>
          <a:ln/>
          <a:effectLst>
            <a:outerShdw sx="100000" sy="100000" kx="0" ky="0" algn="bl" rotWithShape="0" blurRad="127000" dist="38100" dir="5400000">
              <a:srgbClr val="152943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6021" y="4297680"/>
            <a:ext cx="512064" cy="512064"/>
          </a:xfrm>
          <a:prstGeom prst="ellipse">
            <a:avLst/>
          </a:prstGeom>
          <a:solidFill>
            <a:srgbClr val="9C922C"/>
          </a:solidFill>
          <a:ln/>
        </p:spPr>
      </p:sp>
      <p:pic>
        <p:nvPicPr>
          <p:cNvPr id="32" name="Image 5" descr="/home/claude/deck/icons/bo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181" y="443484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6021" y="49560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Veloce e curato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96021" y="5340096"/>
            <a:ext cx="29910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 di caricamento minimi, design su misura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0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7E7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serve per andare online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passaggi semplici separano la versione di anteprima dal sito definitivo e pubblicato.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10271455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3982" y="2926080"/>
            <a:ext cx="640080" cy="640080"/>
          </a:xfrm>
          <a:prstGeom prst="ellipse">
            <a:avLst/>
          </a:prstGeom>
          <a:solidFill>
            <a:srgbClr val="9C92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3982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2508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Contenuti definitivi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4114800"/>
            <a:ext cx="250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facoltative aggiuntive, recensioni, anno di apertura e testi da confermare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1866" y="2926080"/>
            <a:ext cx="640080" cy="640080"/>
          </a:xfrm>
          <a:prstGeom prst="ellipse">
            <a:avLst/>
          </a:prstGeom>
          <a:solidFill>
            <a:srgbClr val="9C92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1866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7692" y="3703320"/>
            <a:ext cx="2508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ufficiale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7692" y="4114800"/>
            <a:ext cx="250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e collegamento di un indirizzo come tamatete.it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9750" y="2926080"/>
            <a:ext cx="640080" cy="640080"/>
          </a:xfrm>
          <a:prstGeom prst="ellipse">
            <a:avLst/>
          </a:prstGeom>
          <a:solidFill>
            <a:srgbClr val="9C92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975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5576" y="3703320"/>
            <a:ext cx="2508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mappa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5576" y="4114800"/>
            <a:ext cx="250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a Instagram, Facebook e Google Maps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67633" y="2926080"/>
            <a:ext cx="640080" cy="640080"/>
          </a:xfrm>
          <a:prstGeom prst="ellipse">
            <a:avLst/>
          </a:prstGeom>
          <a:solidFill>
            <a:srgbClr val="9C92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67633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33459" y="3703320"/>
            <a:ext cx="2508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Pubblicazione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33459" y="4114800"/>
            <a:ext cx="250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online, verificato su tutti i dispositivi e pronto alle prenotazioni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486400" cy="5486400"/>
          </a:xfrm>
          <a:prstGeom prst="ellipse">
            <a:avLst/>
          </a:prstGeom>
          <a:solidFill>
            <a:srgbClr val="1E3A5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120640" cy="5120640"/>
          </a:xfrm>
          <a:prstGeom prst="ellipse">
            <a:avLst/>
          </a:prstGeom>
          <a:solidFill>
            <a:srgbClr val="1E3A5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 a portare Ta Matete online</a:t>
            </a:r>
            <a:endParaRPr lang="en-US" sz="1500" dirty="0"/>
          </a:p>
        </p:txBody>
      </p:sp>
      <p:pic>
        <p:nvPicPr>
          <p:cNvPr id="6" name="Image 0" descr="/home/claude/site/img/logo-senza-sfo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4114800"/>
            <a:ext cx="1828800" cy="2734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Mockly  -  Web design per il territorio  -  mockly.it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 Matete - Il nuovo sito web</dc:title>
  <dc:subject>PptxGenJS Presentation</dc:subject>
  <dc:creator>Mockly</dc:creator>
  <cp:lastModifiedBy>Mockly</cp:lastModifiedBy>
  <cp:revision>1</cp:revision>
  <dcterms:created xsi:type="dcterms:W3CDTF">2026-06-17T21:41:24Z</dcterms:created>
  <dcterms:modified xsi:type="dcterms:W3CDTF">2026-06-17T21:41:24Z</dcterms:modified>
</cp:coreProperties>
</file>